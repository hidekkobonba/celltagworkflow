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56600" y="2700000"/>
            <a:ext cx="1080000" cy="1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1111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1">
                <a:solidFill>
                  <a:srgbClr val="2A2220"/>
                </a:solidFill>
              </a:rPr>
              <a:t>Nose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16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RHINOPLASTY COUNSELING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6600" y="2700000"/>
            <a:ext cx="1080000" cy="1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2880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A5840"/>
                </a:solidFill>
              </a:rPr>
              <a:t>鼻整形 カウンセリングガイド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311999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あなたの理想のデザインを、一緒に選びましょう。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500000"/>
            <a:ext cx="1111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A060"/>
                </a:solidFill>
              </a:rPr>
              <a:t>羽根 和秀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4968000"/>
            <a:ext cx="1111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Zetith Beauty Clinic Fukuoka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96000"/>
            <a:ext cx="11329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8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DOCTOR'S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108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CCCCC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40000"/>
            <a:ext cx="54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A2220"/>
                </a:solidFill>
              </a:rPr>
              <a:t>羽根先生の強み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720000"/>
            <a:ext cx="5328000" cy="25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828000"/>
            <a:ext cx="1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E8D0A0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36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060"/>
                </a:solidFill>
              </a:rPr>
              <a:t>クローズド法のスペシャリスト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1800000"/>
            <a:ext cx="504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外側に傷を残さないクローズド法を専門としています。高い技術が必要な術式ですが、ダウンタイムが短く自然な仕上がりのため、現在最も需要の高い技術です。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12000" y="720000"/>
            <a:ext cx="5328000" cy="25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6000" y="828000"/>
            <a:ext cx="1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E8D0A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6000" y="136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060"/>
                </a:solidFill>
              </a:rPr>
              <a:t>顔全体のデザイン設計力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6000" y="1800000"/>
            <a:ext cx="504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鼻の形・高さ・向きだけでなく、顔全体のバランスを見た上でデザインを設計します。「整形した感」が出ない自然な仕上がりにこだわっています。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600000"/>
            <a:ext cx="5328000" cy="25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3708000"/>
            <a:ext cx="1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E8D0A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424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060"/>
                </a:solidFill>
              </a:rPr>
              <a:t>正直なカウンセリング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4680000"/>
            <a:ext cx="504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「しないほうがいい」と伝えることも仕事のうち。リスクと代替案を丁寧に説明し、患者さんが納得した上で選択できる場を作ります。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2000" y="3600000"/>
            <a:ext cx="5328000" cy="25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000" y="3708000"/>
            <a:ext cx="1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E8D0A0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6000" y="424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A060"/>
                </a:solidFill>
              </a:rPr>
              <a:t>他院修正・拘縮鼻対応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000" y="4680000"/>
            <a:ext cx="5040000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</a:rPr>
              <a:t>他院での施術後の修正に積極的に対応。状態を正確に診断し、「何ができるか・できないか」を正直にお伝えした上でプランを提案します。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96000"/>
            <a:ext cx="11329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8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CLOSED RHINOPLASTY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108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CCCCC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40000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A2220"/>
                </a:solidFill>
              </a:rPr>
              <a:t>クローズド法とは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152000"/>
            <a:ext cx="5580000" cy="3240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296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CLOSED APPROACH RHINOPLASTY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62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傷が残らない。バレない。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340000"/>
            <a:ext cx="5328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99"/>
                </a:solidFill>
              </a:rPr>
              <a:t>すべての切開を鼻の内側だけで行う術式。
外側に一切傷が残らず「整形した」とわからない仕上がりに。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" y="3311999"/>
            <a:ext cx="2520000" cy="28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000" y="3311999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★ 現在最もトレンドの術式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152000"/>
            <a:ext cx="1260000" cy="324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000" y="1170000"/>
            <a:ext cx="11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7560000" y="1152000"/>
            <a:ext cx="198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6000" y="1170000"/>
            <a:ext cx="1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クローズド法★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0000" y="1152000"/>
            <a:ext cx="198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76000" y="1170000"/>
            <a:ext cx="190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オープン法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000" y="1476000"/>
            <a:ext cx="1260000" cy="576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4000" y="1512000"/>
            <a:ext cx="1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060"/>
                </a:solidFill>
              </a:rPr>
              <a:t>外側の傷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000" y="14760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4000" y="15120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A2220"/>
                </a:solidFill>
              </a:rPr>
              <a:t>なし（完全に内側のみ）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40000" y="14760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4000" y="15120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999"/>
                </a:solidFill>
              </a:rPr>
              <a:t>鼻柱に小さな傷が残る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000" y="2059200"/>
            <a:ext cx="1260000" cy="576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4000" y="2095200"/>
            <a:ext cx="1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060"/>
                </a:solidFill>
              </a:rPr>
              <a:t>ダウンタイム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60000" y="20592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4000" y="20952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A2220"/>
                </a:solidFill>
              </a:rPr>
              <a:t>短め（5〜7日）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40000" y="20592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94000" y="20952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999"/>
                </a:solidFill>
              </a:rPr>
              <a:t>やや長め（7〜10日）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000" y="2642400"/>
            <a:ext cx="1260000" cy="576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4000" y="2678400"/>
            <a:ext cx="1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060"/>
                </a:solidFill>
              </a:rPr>
              <a:t>腫れ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60000" y="26424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14000" y="26784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A2220"/>
                </a:solidFill>
              </a:rPr>
              <a:t>比較的少ない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40000" y="26424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94000" y="26784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999"/>
                </a:solidFill>
              </a:rPr>
              <a:t>やや多い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0000" y="3225600"/>
            <a:ext cx="1260000" cy="576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4000" y="3261600"/>
            <a:ext cx="1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060"/>
                </a:solidFill>
              </a:rPr>
              <a:t>術者への要求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60000" y="32256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4000" y="32616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A2220"/>
                </a:solidFill>
              </a:rPr>
              <a:t>高い技術力が必要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40000" y="32256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94000" y="32616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999"/>
                </a:solidFill>
              </a:rPr>
              <a:t>視野が広く操作しやすい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0000" y="3808800"/>
            <a:ext cx="1260000" cy="576000"/>
          </a:xfrm>
          <a:prstGeom prst="rect">
            <a:avLst/>
          </a:prstGeom>
          <a:solidFill>
            <a:srgbClr val="FDF9F3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4000" y="3844800"/>
            <a:ext cx="115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060"/>
                </a:solidFill>
              </a:rPr>
              <a:t>適応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60000" y="38088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4000" y="38448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A2220"/>
                </a:solidFill>
              </a:rPr>
              <a:t>多くの鼻整形に対応可能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40000" y="3808800"/>
            <a:ext cx="1980000" cy="576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D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94000" y="3844800"/>
            <a:ext cx="187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99999"/>
                </a:solidFill>
              </a:rPr>
              <a:t>複雑な修正に強い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96000"/>
            <a:ext cx="11329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8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NOSE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108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CCCCC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40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A2220"/>
                </a:solidFill>
              </a:rPr>
              <a:t>鼻の解剖図 — 各部位と施術の関係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152000"/>
            <a:ext cx="54000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3999" y="1224000"/>
            <a:ext cx="144000" cy="14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000" y="1206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220"/>
                </a:solidFill>
              </a:rPr>
              <a:t>鼻根（びこん）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1404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目と鼻の境界。眼鏡が乗る部分。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1620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▸ プロテーゼで高さを出す起点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6000"/>
            <a:ext cx="144000" cy="14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1998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220"/>
                </a:solidFill>
              </a:rPr>
              <a:t>鼻背（鼻筋）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000" y="2196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鼻の高さの稜線。正面から見た「鼻筋」。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000" y="2412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▸ プロテーゼの主な作用部位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999" y="2808000"/>
            <a:ext cx="144000" cy="14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000" y="279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220"/>
                </a:solidFill>
              </a:rPr>
              <a:t>鼻先（鼻尖）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" y="2988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最も前に突出した点。デザインの核心。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000" y="3204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▸ ストラット・軟骨形成で整える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3600000"/>
            <a:ext cx="144000" cy="14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000" y="3582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220"/>
                </a:solidFill>
              </a:rPr>
              <a:t>鼻柱（コルメラ）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000" y="3780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両鼻孔の間の柱状の部分。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000" y="3996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▸ ACR改善・鼻中隔延長の対象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3999" y="4392000"/>
            <a:ext cx="144000" cy="14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000" y="4374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220"/>
                </a:solidFill>
              </a:rPr>
              <a:t>小鼻（鼻翼）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000" y="4572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鼻の両サイドの膨らみ。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000" y="4788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▸ 小鼻縮小・鼻孔縁挙上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999" y="5184000"/>
            <a:ext cx="144000" cy="14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6000" y="5166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A2220"/>
                </a:solidFill>
              </a:rPr>
              <a:t>鼻唇角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000" y="5364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99999"/>
                </a:solidFill>
              </a:rPr>
              <a:t>鼻柱と上唇のなす角度。デザインを決める数値。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000" y="5580000"/>
            <a:ext cx="48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▸ アップ(110°) / ストレート(90°) / ラウンド(100°)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2000" y="1152000"/>
            <a:ext cx="5400000" cy="2160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000" y="1224000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鼻唇角 — デザインの核心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000" y="1548000"/>
            <a:ext cx="5220000" cy="165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鼻唇角とは、鼻柱（コルメラ）と上唇のなす角度のこと。
この角度がデザインの「方向感」を決定します。
●  90〜95° → ストレート・忘れ鼻
● 100〜105° → ラウンド・自然な美しさ
● 105〜115° → アップノーズ・あざと可愛い系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2000" y="3420000"/>
            <a:ext cx="5400000" cy="2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0000" y="3491999"/>
            <a:ext cx="52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A060"/>
                </a:solidFill>
              </a:rPr>
              <a:t>施術と部位の関係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000" y="3780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2220"/>
                </a:solidFill>
              </a:rPr>
              <a:t>● プロテーゼ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0000" y="3780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→ 鼻根〜鼻背を高くする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000" y="412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2220"/>
                </a:solidFill>
              </a:rPr>
              <a:t>● 鼻尖縮小・ストラット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0000" y="4122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→ 鼻先の形・向きを整える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000" y="4464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2220"/>
                </a:solidFill>
              </a:rPr>
              <a:t>● 小鼻縮小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0000" y="4464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→ 小鼻の幅・広がりを改善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000" y="4806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2220"/>
                </a:solidFill>
              </a:rPr>
              <a:t>● 鼻中隔延長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0000" y="4806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→ 鼻先を下・前方向へ延長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0000" y="5148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2220"/>
                </a:solidFill>
              </a:rPr>
              <a:t>● 肋軟骨移植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0000" y="5148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→ 大量の軟骨が必要な大変化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000" y="5490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A2220"/>
                </a:solidFill>
              </a:rPr>
              <a:t>● 他院修正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0000" y="5490000"/>
            <a:ext cx="32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→ 既存施術の修正・やり直し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2000" y="396000"/>
            <a:ext cx="11329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" y="108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8A060"/>
                </a:solidFill>
              </a:rPr>
              <a:t>NOSE TIP DESIGN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3200" y="108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CCCCCC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540000"/>
            <a:ext cx="90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A2220"/>
                </a:solidFill>
              </a:rPr>
              <a:t>鼻先のデザイン比較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3960000" cy="792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1116000"/>
            <a:ext cx="36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Up 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368000"/>
            <a:ext cx="36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アップノーズ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872000"/>
            <a:ext cx="3960000" cy="3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890000"/>
            <a:ext cx="374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A060"/>
                </a:solidFill>
              </a:rPr>
              <a:t>鼻唇角  105〜115°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2268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" y="2275200"/>
            <a:ext cx="37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Baby &amp; Cute 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556000"/>
            <a:ext cx="3960000" cy="2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592000"/>
            <a:ext cx="3744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鼻先が上を向いた、可愛らしいデザイン。
中顔面が短縮して見え、あざと可愛い印象になります。
やりすぎると「豚鼻」に見えるリスクがあるため、
角度のすり合わせが重要です。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4320000"/>
            <a:ext cx="3744000" cy="18000"/>
          </a:xfrm>
          <a:prstGeom prst="rect">
            <a:avLst/>
          </a:prstGeom>
          <a:solidFill>
            <a:srgbClr val="E8D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439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A060"/>
                </a:solidFill>
              </a:rPr>
              <a:t>クローズド法対応◎
中顔面短縮 / あざと可愛い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36000" y="1080000"/>
            <a:ext cx="3960000" cy="792000"/>
          </a:xfrm>
          <a:prstGeom prst="rect">
            <a:avLst/>
          </a:prstGeom>
          <a:solidFill>
            <a:srgbClr val="6A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0" y="1116000"/>
            <a:ext cx="36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Straight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1368000"/>
            <a:ext cx="36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ストレート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6000" y="1872000"/>
            <a:ext cx="3960000" cy="3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4000" y="1890000"/>
            <a:ext cx="374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A7060"/>
                </a:solidFill>
              </a:rPr>
              <a:t>鼻唇角  90〜95°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6000" y="2268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4000" y="2275200"/>
            <a:ext cx="37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Elegant 系 / 忘れ鼻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36000" y="2556000"/>
            <a:ext cx="3960000" cy="2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4000" y="2592000"/>
            <a:ext cx="3744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鼻筋から鼻先まで一直線の、忘れ鼻デザイン。
最も「整形した感」が出にくく、横顔の品格が増します。
「バレたくない」「自然に綺麗になりたい」方に
圧倒的に人気のデザインです。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44000" y="4320000"/>
            <a:ext cx="3744000" cy="18000"/>
          </a:xfrm>
          <a:prstGeom prst="rect">
            <a:avLst/>
          </a:prstGeom>
          <a:solidFill>
            <a:srgbClr val="E8D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4000" y="439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A7060"/>
                </a:solidFill>
              </a:rPr>
              <a:t>クローズド法対応◎
忘れ鼻 / 整形感ゼロ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0000" y="1080000"/>
            <a:ext cx="3960000" cy="792000"/>
          </a:xfrm>
          <a:prstGeom prst="rect">
            <a:avLst/>
          </a:prstGeom>
          <a:solidFill>
            <a:srgbClr val="8A6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4000" y="1116000"/>
            <a:ext cx="367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Round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4000" y="1368000"/>
            <a:ext cx="36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ラウンド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0000" y="1872000"/>
            <a:ext cx="3960000" cy="3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6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8000" y="1890000"/>
            <a:ext cx="374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6A50"/>
                </a:solidFill>
              </a:rPr>
              <a:t>鼻唇角  95〜105°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0000" y="2268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8000" y="2275200"/>
            <a:ext cx="37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自然 / 大人美人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0000" y="2556000"/>
            <a:ext cx="3960000" cy="2700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8000" y="2592000"/>
            <a:ext cx="3744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鼻先に自然な丸みを持たせたデザイン。
半ラウンドは大人の色気、フルラウンドは柔らかさを演出。
シャープにしすぎると不自然に見える方や、
柔らかい印象を保ちたい方に向いています。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48000" y="4320000"/>
            <a:ext cx="3744000" cy="18000"/>
          </a:xfrm>
          <a:prstGeom prst="rect">
            <a:avLst/>
          </a:prstGeom>
          <a:solidFill>
            <a:srgbClr val="E8DE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48000" y="439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6A50"/>
                </a:solidFill>
              </a:rPr>
              <a:t>クローズド法対応◎
半ラウンド / 大人美人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3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753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1">
                <a:solidFill>
                  <a:srgbClr val="2A2220"/>
                </a:solidFill>
              </a:rPr>
              <a:t>Baby &amp; 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900000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5840"/>
                </a:solidFill>
              </a:rPr>
              <a:t>- "中顔面短縮"と"あざと可愛さ"を重視したデザイン -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856800"/>
            <a:ext cx="10753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180800"/>
            <a:ext cx="10753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アップノーズ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鼻先を斜め上方向へ。
可愛らしく若々しい印象に。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#あざと可愛い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6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6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中顔面短縮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鼻先の向きと高さで
顔の縦幅を短く見せる。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16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6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8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6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6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#小顔効果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0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0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ACR改善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8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鼻柱を下ろしながら小鼻は上げる。
正面の印象を整える。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0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0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2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2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0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0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#バランス改善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4536000"/>
            <a:ext cx="113292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000" y="4536000"/>
            <a:ext cx="108000" cy="162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459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このカテゴリについて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000" y="4860000"/>
            <a:ext cx="1093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</a:rPr>
              <a:t>クローズド法で対応可能なケースが多く、ダウンタイムを短くしながら可愛らしい印象を作れます。鼻先の向きは数ミリの差で印象が大きく変わるため、カウンセリングでのすり合わせが重要です。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3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753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1">
                <a:solidFill>
                  <a:srgbClr val="2A2220"/>
                </a:solidFill>
              </a:rPr>
              <a:t>Elegant &amp; Straight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900000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5840"/>
                </a:solidFill>
              </a:rPr>
              <a:t>- "忘れ鼻"と"横顔の品格"を追求したナチュラル美デザイン -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856800"/>
            <a:ext cx="10753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180800"/>
            <a:ext cx="10753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ストレート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鼻筋から鼻先まで一直線のライン。
最も整形感が出にくい。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#忘れ鼻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6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6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半ラウンド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自然な丸みを残しながら
品のある印象に。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16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6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8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6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6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#大人美人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0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0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短鼻解消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8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鼻が上を向いた状態を改善。
自然な向きと高さを実現。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0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0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2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2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0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0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#立体感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4536000"/>
            <a:ext cx="113292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000" y="4536000"/>
            <a:ext cx="108000" cy="162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459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このカテゴリについて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000" y="4860000"/>
            <a:ext cx="1093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</a:rPr>
              <a:t>「整形したことを気づかれたくない」「自然に綺麗になりたい」方に最も選ばれるカテゴリです。クローズド法との相性が非常に良く、忘れ鼻（自然すぎて気づかれない鼻）は羽根先生が特に得意とするデザイン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9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3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"/>
            <a:ext cx="107532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1">
                <a:solidFill>
                  <a:srgbClr val="2A2220"/>
                </a:solidFill>
              </a:rPr>
              <a:t>Dramatic &amp; Glamorous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900000"/>
            <a:ext cx="10753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A5840"/>
                </a:solidFill>
              </a:rPr>
              <a:t>- "圧倒的な高さ"と"Eライン"を完成させるフルオーダーデザイン -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856800"/>
            <a:ext cx="10753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180800"/>
            <a:ext cx="10753200" cy="144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シャープ鼻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鼻筋から鼻先までシャープな印象に。
団子鼻を解消。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#ハーフ顔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6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6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Eライン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4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横顔の美しさを完成させる設計。
口元の突出感も軽減。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16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6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8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6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6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#Eライン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0000" y="1512000"/>
            <a:ext cx="3960000" cy="324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0000" y="151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貴族手術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48000" y="1872000"/>
            <a:ext cx="3744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</a:rPr>
              <a:t>鼻翼基部を持ち上げ
横顔に奥行きを演出。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0000" y="2484000"/>
            <a:ext cx="1620000" cy="1620000"/>
          </a:xfrm>
          <a:prstGeom prst="rect">
            <a:avLst/>
          </a:prstGeom>
          <a:solidFill>
            <a:srgbClr val="E0DBD0"/>
          </a:solidFill>
          <a:ln w="12700">
            <a:solidFill>
              <a:srgbClr val="C8A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0000" y="2484000"/>
            <a:ext cx="16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</a:rPr>
              <a:t>BEFORE
写真挿入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2000" y="2484000"/>
            <a:ext cx="1980000" cy="1620000"/>
          </a:xfrm>
          <a:prstGeom prst="rect">
            <a:avLst/>
          </a:prstGeom>
          <a:solidFill>
            <a:srgbClr val="1A1A1A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2000" y="2484000"/>
            <a:ext cx="198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999999"/>
                </a:solidFill>
              </a:rPr>
              <a:t>After
写真挿入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0000" y="4176000"/>
            <a:ext cx="3960000" cy="251999"/>
          </a:xfrm>
          <a:prstGeom prst="rect">
            <a:avLst/>
          </a:prstGeom>
          <a:solidFill>
            <a:srgbClr val="F0E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0000" y="4183199"/>
            <a:ext cx="39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7060"/>
                </a:solidFill>
              </a:rPr>
              <a:t>#存在感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4536000"/>
            <a:ext cx="113292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2000" y="4536000"/>
            <a:ext cx="108000" cy="1620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000" y="459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A060"/>
                </a:solidFill>
              </a:rPr>
              <a:t>このカテゴリについて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000" y="4860000"/>
            <a:ext cx="1093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99999"/>
                </a:solidFill>
              </a:rPr>
              <a:t>大きな変化を望む方向けのカテゴリです。プロテーゼ・軟骨移植・鼻中隔延長など複合施術が多く、場合によってはオープン法や肋軟骨移植が必要になります。ダウンタイムは長めですが、完成時の変化も最も大きいカテゴリ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2A2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0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A060"/>
                </a:solidFill>
              </a:rPr>
              <a:t>ZETITH BEAUTY CLINIC FUKUOKA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75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FFFFFF"/>
                </a:solidFill>
              </a:rPr>
              <a:t>今日、どんな鼻になりたいですか？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951999"/>
            <a:ext cx="10753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デザインのイメージが固まっていなくても大丈夫です。
「なんとなくこんな印象になりたい」から一緒に考えます。
決めなければいけない場ではありません。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6600" y="4500000"/>
            <a:ext cx="1080000" cy="18000"/>
          </a:xfrm>
          <a:prstGeom prst="rect">
            <a:avLst/>
          </a:prstGeom>
          <a:solidFill>
            <a:srgbClr val="C8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4752000"/>
            <a:ext cx="1075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8A060"/>
                </a:solidFill>
              </a:rPr>
              <a:t>INSTAGRAM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112000"/>
            <a:ext cx="1075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@zetith_hane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580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Zetith Beauty Clinic 福岡院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